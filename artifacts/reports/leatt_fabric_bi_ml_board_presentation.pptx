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457200" y="3429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11111"/>
                </a:solidFill>
              </a:rPr>
              <a:t>Leatt Fabric BI/ML Portfolio</a:t>
            </a:r>
          </a:p>
        </p:txBody>
      </p:sp>
      <p:sp>
        <p:nvSpPr>
          <p:cNvPr id="2" name="TextBox"/>
          <p:cNvSpPr txBox="1"/>
          <p:nvPr/>
        </p:nvSpPr>
        <p:spPr>
          <a:xfrm>
            <a:off x="685800" y="1752600"/>
            <a:ext cx="777240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111111"/>
                </a:solidFill>
              </a:rPr>
              <a:t>2,000,000 transaction lines</a:t>
            </a:r>
          </a:p>
          <a:p>
            <a:r>
              <a:rPr lang="en-US" sz="2200">
                <a:solidFill>
                  <a:srgbClr val="111111"/>
                </a:solidFill>
              </a:rPr>
              <a:t>R3,994,247,413 revenue</a:t>
            </a:r>
          </a:p>
          <a:p>
            <a:r>
              <a:rPr lang="en-US" sz="2200">
                <a:solidFill>
                  <a:srgbClr val="111111"/>
                </a:solidFill>
              </a:rPr>
              <a:t>Fabric + Power BI + ML + SAP governance +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457200" y="3429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11111"/>
                </a:solidFill>
              </a:rPr>
              <a:t>What The Data Tells Us</a:t>
            </a:r>
          </a:p>
        </p:txBody>
      </p:sp>
      <p:sp>
        <p:nvSpPr>
          <p:cNvPr id="2" name="TextBox"/>
          <p:cNvSpPr txBox="1"/>
          <p:nvPr/>
        </p:nvSpPr>
        <p:spPr>
          <a:xfrm>
            <a:off x="685800" y="1752600"/>
            <a:ext cx="777240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111111"/>
                </a:solidFill>
              </a:rPr>
              <a:t>Scale: The modeled ecommerce estate is large enough for enterprise BI: R3,994,247,413 revenue and R1,938,497,252 gross margin across the analytical period.</a:t>
            </a:r>
          </a:p>
          <a:p>
            <a:r>
              <a:rPr lang="en-US" sz="2200">
                <a:solidFill>
                  <a:srgbClr val="111111"/>
                </a:solidFill>
              </a:rPr>
              <a:t>Category economics: Apparel is the hero growth engine at R1,759,430,045; it deserves board-level tracking, product storytelling and protected availability.</a:t>
            </a:r>
          </a:p>
          <a:p>
            <a:r>
              <a:rPr lang="en-US" sz="2200">
                <a:solidFill>
                  <a:srgbClr val="111111"/>
                </a:solidFill>
              </a:rPr>
              <a:t>Margin leakage: Returns absorb 4.9% of modeled revenue, with Footwear carrying the highest return-rate signal. Fit, sizing, delivery promises and PDP content should be inspected before scaling spend.</a:t>
            </a:r>
          </a:p>
          <a:p>
            <a:r>
              <a:rPr lang="en-US" sz="2200">
                <a:solidFill>
                  <a:srgbClr val="111111"/>
                </a:solidFill>
              </a:rPr>
              <a:t>Marketing efficiency: Direct is the efficiency engine with ROAS 100.0x. Paid channels should be optimized with creative testing, landing-page relevance and bundle-led offers before budget expansion.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457200" y="3429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11111"/>
                </a:solidFill>
              </a:rPr>
              <a:t>Power BI Executive Overview</a:t>
            </a:r>
          </a:p>
        </p:txBody>
      </p:sp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457200" y="3429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11111"/>
                </a:solidFill>
              </a:rPr>
              <a:t>ML Return Risk Monitoring</a:t>
            </a:r>
          </a:p>
        </p:txBody>
      </p:sp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457200" y="3429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11111"/>
                </a:solidFill>
              </a:rPr>
              <a:t>AI Commerce Command Center</a:t>
            </a:r>
          </a:p>
        </p:txBody>
      </p:sp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457200" y="3429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11111"/>
                </a:solidFill>
              </a:rPr>
              <a:t>Final Handover</a:t>
            </a:r>
          </a:p>
        </p:txBody>
      </p:sp>
      <p:sp>
        <p:nvSpPr>
          <p:cNvPr id="2" name="TextBox"/>
          <p:cNvSpPr txBox="1"/>
          <p:nvPr/>
        </p:nvSpPr>
        <p:spPr>
          <a:xfrm>
            <a:off x="685800" y="1752600"/>
            <a:ext cx="777240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111111"/>
                </a:solidFill>
              </a:rPr>
              <a:t>GitHub: https://github.com/anthonyapollis/leatt-fabric-bi-ml-proof</a:t>
            </a:r>
          </a:p>
          <a:p>
            <a:r>
              <a:rPr lang="en-US" sz="2200">
                <a:solidFill>
                  <a:srgbClr val="111111"/>
                </a:solidFill>
              </a:rPr>
              <a:t>Suspend Fabric F2 capacity after review.</a:t>
            </a:r>
          </a:p>
          <a:p>
            <a:r>
              <a:rPr lang="en-US" sz="2200">
                <a:solidFill>
                  <a:srgbClr val="111111"/>
                </a:solidFill>
              </a:rPr>
              <a:t>Use the master Excel and dossier as interview leave-behinds.</a:t>
            </a:r>
          </a:p>
        </p:txBody>
      </p:sp>
    </p:spTree>
  </p:cSld>
  <p:clrMapOvr>
    <a:masterClrMapping/>
  </p:clrMapOvr>
</p:sld>
</file>